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485198-F927-4C2E-8DE3-9AEC2A47B57D}" v="3" dt="2026-10-16T18:34:14.1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34" autoAdjust="0"/>
    <p:restoredTop sz="94660"/>
  </p:normalViewPr>
  <p:slideViewPr>
    <p:cSldViewPr snapToGrid="0">
      <p:cViewPr varScale="1">
        <p:scale>
          <a:sx n="84" d="100"/>
          <a:sy n="84" d="100"/>
        </p:scale>
        <p:origin x="172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warali Lokare" userId="ce6cacfed27239b1" providerId="LiveId" clId="{4BDE44BF-9FA8-4713-8EBC-5CCD2A06D7D8}"/>
    <pc:docChg chg="modSld addMainMaster modMainMaster">
      <pc:chgData name="Swarali Lokare" userId="ce6cacfed27239b1" providerId="LiveId" clId="{4BDE44BF-9FA8-4713-8EBC-5CCD2A06D7D8}" dt="2026-10-22T14:13:23.913" v="69" actId="6938"/>
      <pc:docMkLst>
        <pc:docMk/>
      </pc:docMkLst>
      <pc:sldChg chg="addSp delSp modSp mod">
        <pc:chgData name="Swarali Lokare" userId="ce6cacfed27239b1" providerId="LiveId" clId="{4BDE44BF-9FA8-4713-8EBC-5CCD2A06D7D8}" dt="2026-10-16T18:35:52.117" v="68" actId="1076"/>
        <pc:sldMkLst>
          <pc:docMk/>
          <pc:sldMk cId="169022551" sldId="256"/>
        </pc:sldMkLst>
        <pc:spChg chg="mod">
          <ac:chgData name="Swarali Lokare" userId="ce6cacfed27239b1" providerId="LiveId" clId="{4BDE44BF-9FA8-4713-8EBC-5CCD2A06D7D8}" dt="2026-10-16T18:35:52.117" v="68" actId="1076"/>
          <ac:spMkLst>
            <pc:docMk/>
            <pc:sldMk cId="169022551" sldId="256"/>
            <ac:spMk id="7" creationId="{45DF9F57-7481-43AF-90EA-1B438F83D4AC}"/>
          </ac:spMkLst>
        </pc:spChg>
        <pc:spChg chg="mod">
          <ac:chgData name="Swarali Lokare" userId="ce6cacfed27239b1" providerId="LiveId" clId="{4BDE44BF-9FA8-4713-8EBC-5CCD2A06D7D8}" dt="2026-10-16T18:35:04.420" v="63" actId="20577"/>
          <ac:spMkLst>
            <pc:docMk/>
            <pc:sldMk cId="169022551" sldId="256"/>
            <ac:spMk id="8" creationId="{A0BBC233-AAC0-44C2-84CB-E2C2B90BE7A7}"/>
          </ac:spMkLst>
        </pc:spChg>
        <pc:spChg chg="mod">
          <ac:chgData name="Swarali Lokare" userId="ce6cacfed27239b1" providerId="LiveId" clId="{4BDE44BF-9FA8-4713-8EBC-5CCD2A06D7D8}" dt="2026-10-16T18:34:14.148" v="39"/>
          <ac:spMkLst>
            <pc:docMk/>
            <pc:sldMk cId="169022551" sldId="256"/>
            <ac:spMk id="9" creationId="{EF37A30E-D1A0-430A-8AA0-F979BB940400}"/>
          </ac:spMkLst>
        </pc:spChg>
      </pc:sldChg>
      <pc:sldChg chg="modSp mod">
        <pc:chgData name="Swarali Lokare" userId="ce6cacfed27239b1" providerId="LiveId" clId="{4BDE44BF-9FA8-4713-8EBC-5CCD2A06D7D8}" dt="2026-10-16T18:35:17.813" v="66" actId="20577"/>
        <pc:sldMkLst>
          <pc:docMk/>
          <pc:sldMk cId="1399546708" sldId="263"/>
        </pc:sldMkLst>
        <pc:spChg chg="mod">
          <ac:chgData name="Swarali Lokare" userId="ce6cacfed27239b1" providerId="LiveId" clId="{4BDE44BF-9FA8-4713-8EBC-5CCD2A06D7D8}" dt="2026-10-16T18:35:17.813" v="66" actId="20577"/>
          <ac:spMkLst>
            <pc:docMk/>
            <pc:sldMk cId="1399546708" sldId="263"/>
            <ac:spMk id="5" creationId="{63B570D7-9BBD-423B-A711-D477799851EE}"/>
          </ac:spMkLst>
        </pc:spChg>
      </pc:sldChg>
      <pc:sldMasterChg chg="new mod addSldLayout">
        <pc:chgData name="Swarali Lokare" userId="ce6cacfed27239b1" providerId="LiveId" clId="{4BDE44BF-9FA8-4713-8EBC-5CCD2A06D7D8}" dt="2026-10-22T14:13:23.913" v="69" actId="6938"/>
        <pc:sldMasterMkLst>
          <pc:docMk/>
          <pc:sldMasterMk cId="2048081078" sldId="2147483655"/>
        </pc:sldMasterMkLst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786227248" sldId="2147483656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1498832122" sldId="2147483657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2790778561" sldId="2147483658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1075518896" sldId="2147483659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3575479087" sldId="2147483660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2811863886" sldId="2147483661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2011415182" sldId="2147483662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2840542643" sldId="2147483663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3534537397" sldId="2147483664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2995412415" sldId="2147483665"/>
          </pc:sldLayoutMkLst>
        </pc:sldLayoutChg>
        <pc:sldLayoutChg chg="new replId">
          <pc:chgData name="Swarali Lokare" userId="ce6cacfed27239b1" providerId="LiveId" clId="{4BDE44BF-9FA8-4713-8EBC-5CCD2A06D7D8}" dt="2026-10-22T14:13:23.913" v="69" actId="6938"/>
          <pc:sldLayoutMkLst>
            <pc:docMk/>
            <pc:sldMasterMk cId="2048081078" sldId="2147483655"/>
            <pc:sldLayoutMk cId="2467866663" sldId="214748366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15 seconds. Replace all bracketed placeholders and prompts with your own project details. Keep explanations brief. Total time across slides 1–7 is 5 minutes, including the demonstration. Slide 8 is for reference during questions. Logo source: https://mitwpu.edu.in/uploads/images/MIT-WPU-logo-1.webp. Introduce only the title and team; do not read every PRN.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45 seconds. Replace all bracketed placeholders and prompts with your own project details. Keep explanations brief. Total time across slides 1–7 is 5 minutes, including the demonstration. Slide 8 is for reference during questions. Explain the diagram and only the most relevant design decisions. Use an actual project diagram with readable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55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50 seconds. Replace all bracketed placeholders and prompts with your own project details. Keep explanations brief. Total time across slides 1–7 is 5 minutes, including the demonstration. Slide 8 is for reference during questions. Show actual evidence. Explain the output and mention any failed or partial tests. Do not invent performance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65 seconds. Replace all bracketed placeholders and prompts with your own project details. Keep explanations brief. Total time across slides 1–7 is 5 minutes, including the demonstration. Slide 8 is for reference during questions. Prepare the project before the timer starts. Keep the demo to about one minute. Keep a screenshot or short recording ready as a backup, and identify it as recorded evidence if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30 seconds.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Suggested time: Backup slide. Replace all bracketed placeholders and prompts with your own project details. Keep explanations brief. Total time across slides 1–7 is 5 minutes, including the demonstration. Slide 8 is for reference during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83E6C0E-ADFD-47F0-B7F1-423099F44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73152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3EB337C-CD4A-4141-BBA0-4CF2780ADD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771900"/>
            <a:ext cx="64008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E0CEB062-0151-4898-8FC4-ABE35F2C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857500"/>
            <a:ext cx="73152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C25DF88-F753-4FDF-A6BB-A67DF0BF4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D508D27C-B9C0-4675-8275-8B25BF40C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81153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700FAA36-2918-458A-BCC9-C02C5C86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3166FA6-9A32-40D5-BFFD-76D047ADC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663F08DB-F5FB-439D-8043-D5B97093E1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577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3733861-E5E8-4C0E-85FF-C9C377F03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533400"/>
            <a:ext cx="81153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D218B774-926B-4AA9-BD18-2D17BAA20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1905000"/>
            <a:ext cx="37719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3F222-BB52-710F-ADC6-67A2E65775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F67F3C-DAC7-0B69-92EA-64E6B8225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3DA70B-B447-C23F-ECEA-2CDACA9CF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A83CC-9807-401C-A729-4D36B55F9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90F36-B2F8-A02F-EB94-7E05D7B67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6227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E3C336-5B1D-8FD8-88B0-F6E74DEEE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0C7B5-3BD8-0A3D-CAB0-2C8C5106F6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5FC2AE-6E55-5A6E-3D65-8750FB487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3727C-2E27-4485-B34A-5308ABE87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4A186-3E2D-B4B8-7FDE-526637EEE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8832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5747-1A87-3C61-8861-2304DDB7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2E80AA-5C11-EF06-BAAE-1192FD0AD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770FF-FAB9-F9B9-8B6F-2DEF5CCB5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73C02F-1073-5A3F-5054-D22DF2471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29527-95E3-2A2C-1997-DA5D93096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7785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261E7-E95E-3185-D0CD-3CBE8C6A5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70983C-A1C6-6260-B018-694A7CB7D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4D14ED-A472-1BA6-0451-2A0F601DFD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784F31-03CD-52BF-D17F-7FF1AEC71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4F8DEC-8C4B-0AB1-6819-2A541EA2F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B616F3-2116-660C-C108-746C9E031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518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2E72-D841-D51A-CBBB-478BDB9F01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A6DCC6-47E9-CF4B-2086-3B318AD24F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43320-8AD4-4914-FB7D-C9E6522AB6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B4B93B-50C4-C67B-C6CD-B85A76D17B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C09CE-6DE3-5507-136D-5A83FE8128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FEE6F1-5C52-25AC-E251-84F0E1DC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83E611-D0BB-BBB6-5799-6E39AE044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446FD6-C2B5-7948-9B5E-FC06DE45C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5479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4BF11-7DE1-50B1-2C8E-89492D6C6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D6D650-388A-6852-6784-DA05F75A8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512B0-B473-F07A-A635-EBD2C7753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C2CA2-886C-41F1-B357-691C59FE3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8638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F418A6-986D-FED1-6DE6-96F11B87C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93A82C-3FE6-6583-3AEC-E693FF195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4FDD17-1931-D372-F923-563BB3623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14151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32231-522F-9E6D-E91F-5639FDD4E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82CFFA-155D-C3E6-B43F-F99310B2A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E3978C-B783-B762-1C24-CE6391B16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75360-CB08-641C-A5D2-4C073F95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2ADEC-5F95-0048-3F85-C2C6B2E7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79513E-8195-35A8-D7BD-DBD989BE5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0542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38757-0D27-1010-DDFA-54BD283CF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F623E-F814-85D1-2BE1-832AAE6D179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270A9-1FAA-8C9C-93C9-469B78E7EC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84B6D1-AEE5-9A4C-C4A2-B6ED7D2BC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E6D51B-3C20-4094-7DB3-D8BACE37E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8A64F-193F-4B40-55E7-B22341E19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4537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A779B-7DA5-1E4F-1E86-C55D371EA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ADECA-D0B4-AEC9-385B-9D2F46531F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4B60A-8094-D91F-81A1-B399026B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D4DAB5-973C-46BC-B8CF-F5EA32511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B2EC50-35B5-D6E3-FD8D-7370BE66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5412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CDEA8-679C-36B5-9986-E38966C903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BFD178-5A30-879E-D990-F9FB5FA2E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64BFE-8256-4800-7CB1-8024277F4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F83539-AB5F-BBF3-1C10-8498C0CB8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437B37-825C-D512-08A5-335BC3EDE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86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FAFFAE-F9E2-A480-D48B-DEFD35101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9F820-180B-D714-0DCD-B0DA2EB4A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564BC-CA18-799E-3620-86D3E64A7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040B8D-DB58-4DE3-AD4D-4813E38D28F2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7F3F3-C396-7138-F3E6-83B14B430F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A7927-59F3-0420-07C3-C992E6B8B0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55080-9257-4502-81F4-DF6329A08CC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081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F37A30E-D1A0-430A-8AA0-F979BB940400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lang="en-IN" sz="2550" b="1" dirty="0">
                <a:solidFill>
                  <a:srgbClr val="20375C"/>
                </a:solidFill>
                <a:latin typeface="Arial"/>
              </a:rPr>
              <a:t>HTTP Proxy Server with Intelligent Caching</a:t>
            </a:r>
            <a:endParaRPr sz="2550" b="1" dirty="0">
              <a:solidFill>
                <a:srgbClr val="20375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949E34-4B5B-4562-AC62-5E3AE182E6D9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188D55E-1711-439B-B044-BD320AA1699C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 seconds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0500DC7-A09E-49E5-9BD7-7620F6452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916647" y="349624"/>
            <a:ext cx="3310706" cy="952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18C27AC-3417-4BF8-804F-DF5A87976EC8}"/>
              </a:ext>
            </a:extLst>
          </p:cNvPr>
          <p:cNvSpPr>
            <a:spLocks noGrp="1"/>
          </p:cNvSpPr>
          <p:nvPr/>
        </p:nvSpPr>
        <p:spPr>
          <a:xfrm>
            <a:off x="523875" y="2667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Mini-project presentation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626C341-1A4C-494A-8571-B519D932EFAE}"/>
              </a:ext>
            </a:extLst>
          </p:cNvPr>
          <p:cNvSpPr>
            <a:spLocks noGrp="1"/>
          </p:cNvSpPr>
          <p:nvPr/>
        </p:nvSpPr>
        <p:spPr>
          <a:xfrm>
            <a:off x="523875" y="31432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Computer Networks Laboratory (CSE20110)</a:t>
            </a:r>
          </a:p>
          <a:p>
            <a:pPr algn="ctr"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65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Department of Computer Engineering and Technology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DF9F57-7481-43AF-90EA-1B438F83D4AC}"/>
              </a:ext>
            </a:extLst>
          </p:cNvPr>
          <p:cNvSpPr>
            <a:spLocks noGrp="1"/>
          </p:cNvSpPr>
          <p:nvPr/>
        </p:nvSpPr>
        <p:spPr>
          <a:xfrm>
            <a:off x="1732915" y="4076700"/>
            <a:ext cx="809625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sz="1600" b="1" dirty="0"/>
              <a:t>Students:</a:t>
            </a:r>
            <a:endParaRPr lang="en-IN" sz="1600" dirty="0"/>
          </a:p>
          <a:p>
            <a:pPr lvl="0"/>
            <a:r>
              <a:rPr lang="en-IN" sz="1600" dirty="0"/>
              <a:t>1.Archita Agarwal (1262243769)     3. Sumedh </a:t>
            </a:r>
            <a:r>
              <a:rPr lang="en-IN" sz="1600" dirty="0" err="1"/>
              <a:t>Nilawar</a:t>
            </a:r>
            <a:r>
              <a:rPr lang="en-IN" sz="1600" dirty="0"/>
              <a:t> (1262250022)</a:t>
            </a:r>
          </a:p>
          <a:p>
            <a:pPr lvl="0"/>
            <a:r>
              <a:rPr lang="en-IN" sz="1600" dirty="0"/>
              <a:t>2.Swarali Lokare (1262243762)        4.Soumya Kumari (1262243783)</a:t>
            </a:r>
          </a:p>
          <a:p>
            <a:pPr algn="ctr"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BBC233-AAC0-44C2-84CB-E2C2B90BE7A7}"/>
              </a:ext>
            </a:extLst>
          </p:cNvPr>
          <p:cNvSpPr>
            <a:spLocks noGrp="1"/>
          </p:cNvSpPr>
          <p:nvPr/>
        </p:nvSpPr>
        <p:spPr>
          <a:xfrm>
            <a:off x="523875" y="5095875"/>
            <a:ext cx="8096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Group </a:t>
            </a:r>
            <a:r>
              <a:rPr lang="en-IN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</a:t>
            </a:r>
            <a:r>
              <a:rPr lang="en-IN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[3]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Panel </a:t>
            </a:r>
            <a:r>
              <a:rPr lang="en-IN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:E</a:t>
            </a: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   Batch </a:t>
            </a:r>
            <a:r>
              <a:rPr lang="en-IN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:1</a:t>
            </a:r>
            <a:endParaRPr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Faculty: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Swati mam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Academic Year: 2026–2027   </a:t>
            </a:r>
          </a:p>
          <a:p>
            <a:pPr algn="ctr"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lang="en-US" sz="15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Presentation date: </a:t>
            </a:r>
            <a:r>
              <a:rPr lang="en-US" sz="150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22-10-2026</a:t>
            </a:r>
            <a:endParaRPr lang="en-US" sz="15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02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8AF3E2-B0A1-48D7-8AAD-58C1AE49894A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Problem and Objectives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261110-3343-453F-B653-F85F3964BEA3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034558-8083-4762-B500-1F5F6BD4A1F3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0C7E7-A87D-46AD-AD00-B0EB9B949268}"/>
              </a:ext>
            </a:extLst>
          </p:cNvPr>
          <p:cNvSpPr>
            <a:spLocks noGrp="1"/>
          </p:cNvSpPr>
          <p:nvPr/>
        </p:nvSpPr>
        <p:spPr>
          <a:xfrm>
            <a:off x="2049779" y="1352551"/>
            <a:ext cx="6570345" cy="2705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9F3CB5-0C0F-4AA1-99D5-8611CF4347DB}"/>
              </a:ext>
            </a:extLst>
          </p:cNvPr>
          <p:cNvSpPr>
            <a:spLocks noGrp="1"/>
          </p:cNvSpPr>
          <p:nvPr/>
        </p:nvSpPr>
        <p:spPr>
          <a:xfrm>
            <a:off x="523875" y="1809750"/>
            <a:ext cx="8096250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b="1" dirty="0"/>
              <a:t>Problem:</a:t>
            </a:r>
            <a:endParaRPr lang="en-IN" dirty="0"/>
          </a:p>
          <a:p>
            <a:pPr lvl="0"/>
            <a:r>
              <a:rPr lang="en-IN" dirty="0"/>
              <a:t>Repeated requests for the same HTTP resources cause unnecessary communication with origin servers, increasing network traffic and response latency. </a:t>
            </a:r>
          </a:p>
          <a:p>
            <a:pPr lvl="0"/>
            <a:r>
              <a:rPr lang="en-IN" dirty="0"/>
              <a:t>Local caching optimizes this, but fixed memory capacity requires an efficient replacement policy (LRU) to handle overflows.</a:t>
            </a:r>
          </a:p>
          <a:p>
            <a:pPr lvl="0"/>
            <a:endParaRPr lang="en-IN" dirty="0"/>
          </a:p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E77847-D504-4787-9F02-71CD2DC84C85}"/>
              </a:ext>
            </a:extLst>
          </p:cNvPr>
          <p:cNvSpPr>
            <a:spLocks noGrp="1"/>
          </p:cNvSpPr>
          <p:nvPr/>
        </p:nvSpPr>
        <p:spPr>
          <a:xfrm>
            <a:off x="523875" y="342900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E6E9D2-D950-4002-905E-A6DD5AE7B3CB}"/>
              </a:ext>
            </a:extLst>
          </p:cNvPr>
          <p:cNvSpPr>
            <a:spLocks noGrp="1"/>
          </p:cNvSpPr>
          <p:nvPr/>
        </p:nvSpPr>
        <p:spPr>
          <a:xfrm>
            <a:off x="523875" y="3714750"/>
            <a:ext cx="8096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b="1" dirty="0"/>
              <a:t>Objectives:</a:t>
            </a:r>
            <a:endParaRPr lang="en-IN" dirty="0"/>
          </a:p>
          <a:p>
            <a:pPr lvl="0"/>
            <a:r>
              <a:rPr lang="en-IN" dirty="0"/>
              <a:t>Implement an HTTP proxy server using Python TCP sockets to parse and forward plain HTTP GET requests. </a:t>
            </a:r>
          </a:p>
          <a:p>
            <a:pPr lvl="0"/>
            <a:r>
              <a:rPr lang="en-IN" dirty="0"/>
              <a:t>Integrate an in-memory Least Recently Used (LRU) cache to serve repeated successful (200 OK) responses directly from memory. </a:t>
            </a:r>
          </a:p>
          <a:p>
            <a:pPr lvl="0"/>
            <a:r>
              <a:rPr lang="en-IN" dirty="0"/>
              <a:t>Provide real-time operational visibility and telemetry via a </a:t>
            </a:r>
            <a:r>
              <a:rPr lang="en-IN" dirty="0" err="1"/>
              <a:t>Streamlit</a:t>
            </a:r>
            <a:r>
              <a:rPr lang="en-IN" dirty="0"/>
              <a:t> monitoring dashboard. </a:t>
            </a:r>
          </a:p>
        </p:txBody>
      </p:sp>
    </p:spTree>
    <p:extLst>
      <p:ext uri="{BB962C8B-B14F-4D97-AF65-F5344CB8AC3E}">
        <p14:creationId xmlns:p14="http://schemas.microsoft.com/office/powerpoint/2010/main" val="17711864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A7FE5-9330-404A-8834-8EE47CC698A1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Proposed Design and Tools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186328-4620-4152-951C-0F6E0B69DF1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BB9F45-CBCF-467D-B76E-7FE236AFBDA0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365B4C-1ED1-4575-9868-72A5C8661C44}"/>
              </a:ext>
            </a:extLst>
          </p:cNvPr>
          <p:cNvSpPr>
            <a:spLocks noGrp="1"/>
          </p:cNvSpPr>
          <p:nvPr/>
        </p:nvSpPr>
        <p:spPr>
          <a:xfrm>
            <a:off x="-2722245" y="1066800"/>
            <a:ext cx="10235565" cy="18630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IN" sz="1400" dirty="0">
                <a:solidFill>
                  <a:srgbClr val="666666"/>
                </a:solidFill>
                <a:latin typeface="Arial"/>
              </a:rPr>
              <a:t>[Client / Test Client]</a:t>
            </a:r>
          </a:p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IN" sz="1400" dirty="0">
                <a:solidFill>
                  <a:srgbClr val="666666"/>
                </a:solidFill>
                <a:latin typeface="Arial"/>
              </a:rPr>
              <a:t> │</a:t>
            </a:r>
          </a:p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IN" sz="1400" dirty="0">
                <a:solidFill>
                  <a:srgbClr val="666666"/>
                </a:solidFill>
                <a:latin typeface="Arial"/>
              </a:rPr>
              <a:t>                     ▼(HTTP GET) </a:t>
            </a:r>
          </a:p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IN" sz="1400" dirty="0">
                <a:solidFill>
                  <a:srgbClr val="666666"/>
                </a:solidFill>
                <a:latin typeface="Arial"/>
              </a:rPr>
              <a:t>                                                            [HTTP Proxy Server (127.0.0.1:8888)] ──(Cache Lookup)──► [In-Memory LRU Cache]</a:t>
            </a:r>
          </a:p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IN" sz="1400" dirty="0">
                <a:solidFill>
                  <a:srgbClr val="666666"/>
                </a:solidFill>
                <a:latin typeface="Arial"/>
              </a:rPr>
              <a:t>                                                                     ├── [Cache HIT] ──────────► Returns stored response directly[cite: 1] </a:t>
            </a:r>
          </a:p>
          <a:p>
            <a:pPr algn="ctr"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r>
              <a:rPr lang="en-IN" sz="1400" dirty="0">
                <a:solidFill>
                  <a:srgbClr val="666666"/>
                </a:solidFill>
                <a:latin typeface="Arial"/>
              </a:rPr>
              <a:t>                                                                     └──[Cache MISS] ──────────► Connects to [Origin Web Server] ──►     Stores 200 OK Response[cite: 1]</a:t>
            </a:r>
            <a:endParaRPr lang="en-IN" sz="140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8FCADAF-A2C0-470E-9C4F-96082F51573B}"/>
              </a:ext>
            </a:extLst>
          </p:cNvPr>
          <p:cNvSpPr>
            <a:spLocks noGrp="1"/>
          </p:cNvSpPr>
          <p:nvPr/>
        </p:nvSpPr>
        <p:spPr>
          <a:xfrm>
            <a:off x="331470" y="3341370"/>
            <a:ext cx="8096250" cy="1476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b="1" dirty="0"/>
              <a:t>Tools &amp; Versions:</a:t>
            </a:r>
            <a:endParaRPr lang="en-IN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Python 3</a:t>
            </a:r>
            <a:r>
              <a:rPr lang="en-IN" b="1" dirty="0"/>
              <a:t>:</a:t>
            </a:r>
            <a:r>
              <a:rPr lang="en-IN" dirty="0"/>
              <a:t> Core proxy logic, sockets, threading, and </a:t>
            </a:r>
            <a:r>
              <a:rPr lang="en-IN" dirty="0" err="1"/>
              <a:t>OrderedDict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 err="1"/>
              <a:t>Streamlit</a:t>
            </a:r>
            <a:r>
              <a:rPr lang="en-IN" dirty="0"/>
              <a:t> &amp; Pandas</a:t>
            </a:r>
            <a:r>
              <a:rPr lang="en-IN" b="1" dirty="0"/>
              <a:t>:</a:t>
            </a:r>
            <a:r>
              <a:rPr lang="en-IN" dirty="0"/>
              <a:t> Real-time monitoring dashboard and telemetry interface. </a:t>
            </a:r>
          </a:p>
          <a:p>
            <a:r>
              <a:rPr lang="en-IN" b="1" dirty="0"/>
              <a:t>Protocols &amp; Addressing: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Plain HTTP/1.1 GET requests over TCP sockets.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Local listener configured at 127.0.0.1:8888. </a:t>
            </a:r>
          </a:p>
          <a:p>
            <a:pPr algn="ctr"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2430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9D9CBCB-0357-4DC8-A188-4C37277A96D4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Implementation and Working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8AF794-E3C6-4991-A893-A5574F7F23BE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E311F0-B43D-4984-B7EF-5CED8D55A51E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1F08BF-264A-493B-909A-AB134824902B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2143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1B6265A-7667-4F74-BB20-92A5B1B7110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292417" y="1428750"/>
                <a:ext cx="8851583" cy="502920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>
                <a:defPPr>
                  <a:defRPr sz="1800" b="0">
                    <a:solidFill>
                      <a:srgbClr val="202020"/>
                    </a:solidFill>
                    <a:latin typeface="Arial"/>
                    <a:ea typeface="Arial"/>
                    <a:cs typeface="Arial"/>
                  </a:defRPr>
                </a:defPPr>
              </a:lstStyle>
              <a:p>
                <a:r>
                  <a:rPr lang="en-IN" b="1" dirty="0"/>
                  <a:t>Implementation</a:t>
                </a:r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Files: proxy_server.py (standalone), app.py (dashboard)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Cache capacity: 20 (standalone), 15 (dashboard)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MD5-based cache keys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Multithreaded client handling</a:t>
                </a:r>
              </a:p>
              <a:p>
                <a:r>
                  <a:rPr lang="en-IN" b="1" dirty="0"/>
                  <a:t>Working Flow:</a:t>
                </a:r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dirty="0"/>
                  <a:t>Accepts client connection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Validates request line (returns 501 Not Implemented for unsupported methods like POST)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Computes MD5 hash key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Performs cache lookup </a:t>
                </a:r>
                <a14:m>
                  <m:oMath xmlns:m="http://schemas.openxmlformats.org/officeDocument/2006/math">
                    <m:r>
                      <a:rPr lang="en-IN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dirty="0"/>
                  <a:t>Relays response and updates activity logs. </a:t>
                </a:r>
              </a:p>
              <a:p>
                <a:r>
                  <a:rPr lang="en-IN" b="1" dirty="0"/>
                  <a:t>Troubleshooting:</a:t>
                </a:r>
                <a:endParaRPr lang="en-IN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i="1" dirty="0"/>
                  <a:t>Issue:</a:t>
                </a:r>
                <a:r>
                  <a:rPr lang="en-IN" dirty="0"/>
                  <a:t> Upstream connection or DNS errors (</a:t>
                </a:r>
                <a:r>
                  <a:rPr lang="en-IN" dirty="0" err="1"/>
                  <a:t>getaddrinfo</a:t>
                </a:r>
                <a:r>
                  <a:rPr lang="en-IN" dirty="0"/>
                  <a:t> failed).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IN" i="1" dirty="0"/>
                  <a:t>Solution:</a:t>
                </a:r>
                <a:r>
                  <a:rPr lang="en-IN" dirty="0"/>
                  <a:t> Implemented a 5 to 6-second connection timeout and graceful error logging to capture connection failures without crashing the server. </a:t>
                </a: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1B6265A-7667-4F74-BB20-92A5B1B711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417" y="1428750"/>
                <a:ext cx="8851583" cy="5029200"/>
              </a:xfrm>
              <a:prstGeom prst="rect">
                <a:avLst/>
              </a:prstGeom>
              <a:blipFill>
                <a:blip r:embed="rId3"/>
                <a:stretch>
                  <a:fillRect l="-620" t="-485" r="-344"/>
                </a:stretch>
              </a:blipFill>
              <a:ln w="0">
                <a:noFill/>
                <a:prstDash val="solid"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7837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17C623-7343-44B1-AA4A-D1B4C258A90F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Testing and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1B9A461-CBBC-4245-813A-D1367A360BC7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353FE9-3343-4C54-947B-8EB6CA4BD4B2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3A60ED-C899-4618-BFEF-A834CA5E35ED}"/>
              </a:ext>
            </a:extLst>
          </p:cNvPr>
          <p:cNvSpPr>
            <a:spLocks noGrp="1"/>
          </p:cNvSpPr>
          <p:nvPr/>
        </p:nvSpPr>
        <p:spPr>
          <a:xfrm>
            <a:off x="449580" y="2131219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66666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EA10CA8-AA41-4067-AE19-358C75D267F6}"/>
              </a:ext>
            </a:extLst>
          </p:cNvPr>
          <p:cNvSpPr>
            <a:spLocks noGrp="1"/>
          </p:cNvSpPr>
          <p:nvPr/>
        </p:nvSpPr>
        <p:spPr>
          <a:xfrm>
            <a:off x="358140" y="2753500"/>
            <a:ext cx="8096250" cy="8810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b="1" dirty="0"/>
              <a:t>Objectives Achieved:</a:t>
            </a:r>
            <a:endParaRPr lang="en-IN" dirty="0"/>
          </a:p>
          <a:p>
            <a:pPr lvl="0"/>
            <a:r>
              <a:rPr lang="en-IN" dirty="0"/>
              <a:t>Successfully verified TCP request handling, MD5-keyed LRU caching, and real-time dashboard telemetry.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91C231-CC0A-1D93-F963-A2BCFE12D6D2}"/>
                  </a:ext>
                </a:extLst>
              </p:cNvPr>
              <p:cNvSpPr txBox="1"/>
              <p:nvPr/>
            </p:nvSpPr>
            <p:spPr>
              <a:xfrm>
                <a:off x="358140" y="781378"/>
                <a:ext cx="8427720" cy="20313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buNone/>
                </a:pPr>
                <a:r>
                  <a:rPr lang="en-IN" b="1" dirty="0">
                    <a:effectLst/>
                    <a:latin typeface="+mn-lt"/>
                  </a:rPr>
                  <a:t>Testing:</a:t>
                </a:r>
              </a:p>
              <a:p>
                <a:pPr marL="0" marR="0" lvl="0" indent="-342900">
                  <a:buFont typeface="Arial" panose="020B0604020202020204" pitchFamily="34" charset="0"/>
                  <a:buChar char="•"/>
                </a:pPr>
                <a:r>
                  <a:rPr lang="en-IN" b="1" dirty="0">
                    <a:effectLst/>
                    <a:latin typeface="+mn-lt"/>
                  </a:rPr>
                  <a:t>T1 (Cache Miss):</a:t>
                </a:r>
                <a:r>
                  <a:rPr lang="en-IN" dirty="0">
                    <a:effectLst/>
                    <a:latin typeface="+mn-lt"/>
                  </a:rPr>
                  <a:t> First-time GET request </a:t>
                </a:r>
                <a14:m>
                  <m:oMath xmlns:m="http://schemas.openxmlformats.org/officeDocument/2006/math">
                    <m:r>
                      <a:rPr lang="en-IN" smtClean="0">
                        <a:latin typeface="+mn-lt"/>
                      </a:rPr>
                      <m:t>→</m:t>
                    </m:r>
                  </m:oMath>
                </a14:m>
                <a:r>
                  <a:rPr lang="en-IN" dirty="0">
                    <a:effectLst/>
                    <a:latin typeface="+mn-lt"/>
                  </a:rPr>
                  <a:t>Misses cache, connects to origin, and stores response </a:t>
                </a:r>
                <a14:m>
                  <m:oMath xmlns:m="http://schemas.openxmlformats.org/officeDocument/2006/math">
                    <m:r>
                      <a:rPr lang="en-IN" smtClean="0">
                        <a:latin typeface="+mn-lt"/>
                      </a:rPr>
                      <m:t>→</m:t>
                    </m:r>
                  </m:oMath>
                </a14:m>
                <a:r>
                  <a:rPr lang="en-IN" b="1" dirty="0">
                    <a:effectLst/>
                    <a:latin typeface="+mn-lt"/>
                  </a:rPr>
                  <a:t>Observed:</a:t>
                </a:r>
                <a:r>
                  <a:rPr lang="en-IN" dirty="0">
                    <a:effectLst/>
                    <a:latin typeface="+mn-lt"/>
                  </a:rPr>
                  <a:t> Logged as CACHE MISS (Saved). </a:t>
                </a:r>
              </a:p>
              <a:p>
                <a:pPr marL="0" marR="0" lvl="0" indent="-342900">
                  <a:buFont typeface="Arial" panose="020B0604020202020204" pitchFamily="34" charset="0"/>
                  <a:buChar char="•"/>
                </a:pPr>
                <a:r>
                  <a:rPr lang="en-IN" b="1" dirty="0">
                    <a:effectLst/>
                    <a:latin typeface="+mn-lt"/>
                  </a:rPr>
                  <a:t>T2 (Cache Hit):</a:t>
                </a:r>
                <a:r>
                  <a:rPr lang="en-IN" dirty="0">
                    <a:effectLst/>
                    <a:latin typeface="+mn-lt"/>
                  </a:rPr>
                  <a:t> Repeated GET request </a:t>
                </a:r>
                <a14:m>
                  <m:oMath xmlns:m="http://schemas.openxmlformats.org/officeDocument/2006/math">
                    <m:r>
                      <a:rPr lang="en-IN" smtClean="0">
                        <a:latin typeface="+mn-lt"/>
                      </a:rPr>
                      <m:t>→</m:t>
                    </m:r>
                  </m:oMath>
                </a14:m>
                <a:r>
                  <a:rPr lang="en-IN" dirty="0">
                    <a:effectLst/>
                    <a:latin typeface="+mn-lt"/>
                  </a:rPr>
                  <a:t>Serves stored response directly from memory </a:t>
                </a:r>
                <a14:m>
                  <m:oMath xmlns:m="http://schemas.openxmlformats.org/officeDocument/2006/math">
                    <m:r>
                      <a:rPr lang="en-IN" smtClean="0">
                        <a:latin typeface="+mn-lt"/>
                      </a:rPr>
                      <m:t>→</m:t>
                    </m:r>
                  </m:oMath>
                </a14:m>
                <a:r>
                  <a:rPr lang="en-IN" b="1" dirty="0">
                    <a:effectLst/>
                    <a:latin typeface="+mn-lt"/>
                  </a:rPr>
                  <a:t>Observed:</a:t>
                </a:r>
                <a:r>
                  <a:rPr lang="en-IN" dirty="0">
                    <a:effectLst/>
                    <a:latin typeface="+mn-lt"/>
                  </a:rPr>
                  <a:t> Logged as CACHE HIT (0ms upstream). </a:t>
                </a:r>
              </a:p>
              <a:p>
                <a:pPr marL="0" marR="0" lvl="0" indent="-342900">
                  <a:buFont typeface="Arial" panose="020B0604020202020204" pitchFamily="34" charset="0"/>
                  <a:buChar char="•"/>
                </a:pPr>
                <a:r>
                  <a:rPr lang="en-IN" b="1" dirty="0">
                    <a:effectLst/>
                    <a:latin typeface="+mn-lt"/>
                  </a:rPr>
                  <a:t>T3 (Error Handling):</a:t>
                </a:r>
                <a:r>
                  <a:rPr lang="en-IN" dirty="0">
                    <a:effectLst/>
                    <a:latin typeface="+mn-lt"/>
                  </a:rPr>
                  <a:t> Upstream failure or timeout </a:t>
                </a:r>
                <a14:m>
                  <m:oMath xmlns:m="http://schemas.openxmlformats.org/officeDocument/2006/math">
                    <m:r>
                      <a:rPr lang="en-IN" smtClean="0">
                        <a:latin typeface="+mn-lt"/>
                      </a:rPr>
                      <m:t>→</m:t>
                    </m:r>
                  </m:oMath>
                </a14:m>
                <a:r>
                  <a:rPr lang="en-IN" dirty="0">
                    <a:effectLst/>
                    <a:latin typeface="+mn-lt"/>
                  </a:rPr>
                  <a:t>Handled gracefully via timeout logs without crashing </a:t>
                </a:r>
                <a14:m>
                  <m:oMath xmlns:m="http://schemas.openxmlformats.org/officeDocument/2006/math">
                    <m:r>
                      <a:rPr lang="en-IN" smtClean="0">
                        <a:latin typeface="+mn-lt"/>
                      </a:rPr>
                      <m:t>→</m:t>
                    </m:r>
                  </m:oMath>
                </a14:m>
                <a:r>
                  <a:rPr lang="en-IN" b="1" dirty="0">
                    <a:effectLst/>
                    <a:latin typeface="+mn-lt"/>
                  </a:rPr>
                  <a:t>Observed:</a:t>
                </a:r>
                <a:r>
                  <a:rPr lang="en-IN" dirty="0">
                    <a:effectLst/>
                    <a:latin typeface="+mn-lt"/>
                  </a:rPr>
                  <a:t> Captured in real-time activity log.</a:t>
                </a:r>
                <a:endParaRPr lang="en-IN" dirty="0">
                  <a:effectLst/>
                  <a:latin typeface="Google Sans Tex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391C231-CC0A-1D93-F963-A2BCFE12D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" y="781378"/>
                <a:ext cx="8427720" cy="2031325"/>
              </a:xfrm>
              <a:prstGeom prst="rect">
                <a:avLst/>
              </a:prstGeom>
              <a:blipFill>
                <a:blip r:embed="rId3"/>
                <a:stretch>
                  <a:fillRect l="-651" t="-1201" r="-724" b="-420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F455F1B0-A5C3-1894-2265-2A702AABA8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9250" y="3618041"/>
            <a:ext cx="6177110" cy="275653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7C9ABCD-F0B6-EFF5-96BB-0E6FA9C686AC}"/>
              </a:ext>
            </a:extLst>
          </p:cNvPr>
          <p:cNvSpPr txBox="1"/>
          <p:nvPr/>
        </p:nvSpPr>
        <p:spPr>
          <a:xfrm>
            <a:off x="403860" y="361804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Visual Evidence:</a:t>
            </a:r>
          </a:p>
        </p:txBody>
      </p:sp>
    </p:spTree>
    <p:extLst>
      <p:ext uri="{BB962C8B-B14F-4D97-AF65-F5344CB8AC3E}">
        <p14:creationId xmlns:p14="http://schemas.microsoft.com/office/powerpoint/2010/main" val="121407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AB6F581-D019-4446-9B09-873266454C32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Working Demonstration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7B2C0-778B-420B-9AC8-791FED994D01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A4A980-7EF8-4344-9A96-EEAF374C7B47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65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1DD762-53EC-4E66-840B-4BC66B5F54C7}"/>
              </a:ext>
            </a:extLst>
          </p:cNvPr>
          <p:cNvSpPr>
            <a:spLocks noGrp="1"/>
          </p:cNvSpPr>
          <p:nvPr/>
        </p:nvSpPr>
        <p:spPr>
          <a:xfrm>
            <a:off x="523875" y="1428750"/>
            <a:ext cx="8096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75" b="1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7D0DFDA-9D38-4110-9E96-AA8B9885772D}"/>
              </a:ext>
            </a:extLst>
          </p:cNvPr>
          <p:cNvSpPr>
            <a:spLocks noGrp="1"/>
          </p:cNvSpPr>
          <p:nvPr/>
        </p:nvSpPr>
        <p:spPr>
          <a:xfrm>
            <a:off x="523875" y="1952625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95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1F47A-2B1A-4750-8E3C-EC82A2551A9A}"/>
              </a:ext>
            </a:extLst>
          </p:cNvPr>
          <p:cNvSpPr>
            <a:spLocks noGrp="1"/>
          </p:cNvSpPr>
          <p:nvPr/>
        </p:nvSpPr>
        <p:spPr>
          <a:xfrm>
            <a:off x="241934" y="651271"/>
            <a:ext cx="9130666" cy="41036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9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lang="en-IN" b="1" dirty="0"/>
              <a:t>Function to Demonstrate:</a:t>
            </a:r>
            <a:endParaRPr lang="en-IN" dirty="0"/>
          </a:p>
          <a:p>
            <a:pPr lvl="1"/>
            <a:r>
              <a:rPr lang="en-IN" dirty="0"/>
              <a:t>Live HTTP Request Handling, MD5-Keyed LRU Caching, and Real-Time </a:t>
            </a:r>
            <a:r>
              <a:rPr lang="en-IN" dirty="0" err="1"/>
              <a:t>Streamlit</a:t>
            </a:r>
            <a:r>
              <a:rPr lang="en-IN" dirty="0"/>
              <a:t> Telemetry. </a:t>
            </a:r>
          </a:p>
          <a:p>
            <a:pPr lvl="0"/>
            <a:r>
              <a:rPr lang="en-IN" b="1" dirty="0"/>
              <a:t>Execution Steps:</a:t>
            </a:r>
            <a:endParaRPr lang="en-IN" dirty="0"/>
          </a:p>
          <a:p>
            <a:pPr lvl="1"/>
            <a:r>
              <a:rPr lang="en-IN" b="1" dirty="0"/>
              <a:t>Launch Application:</a:t>
            </a:r>
            <a:r>
              <a:rPr lang="en-IN" dirty="0"/>
              <a:t> Run </a:t>
            </a:r>
            <a:r>
              <a:rPr lang="en-IN" dirty="0" err="1"/>
              <a:t>streamlit</a:t>
            </a:r>
            <a:r>
              <a:rPr lang="en-IN" dirty="0"/>
              <a:t> run app.py to start the dashboard server on port 8888. </a:t>
            </a:r>
          </a:p>
          <a:p>
            <a:pPr lvl="1"/>
            <a:r>
              <a:rPr lang="en-IN" b="1" dirty="0"/>
              <a:t>Send Test Request (Cache Miss):</a:t>
            </a:r>
            <a:r>
              <a:rPr lang="en-IN" dirty="0"/>
              <a:t> Enter a plain HTTP URL (e.g., [http://example.com/](http://example.com/)) in the test client and click </a:t>
            </a:r>
            <a:r>
              <a:rPr lang="en-IN" b="1" dirty="0"/>
              <a:t>Send Request</a:t>
            </a:r>
            <a:r>
              <a:rPr lang="en-IN" dirty="0"/>
              <a:t>. </a:t>
            </a:r>
          </a:p>
          <a:p>
            <a:pPr lvl="1"/>
            <a:r>
              <a:rPr lang="en-IN" b="1" dirty="0"/>
              <a:t>Verify Cache Hit:</a:t>
            </a:r>
            <a:r>
              <a:rPr lang="en-IN" dirty="0"/>
              <a:t> Re-send the exact same URL to instantly serve the response from the in-memory LRU cache. </a:t>
            </a:r>
          </a:p>
          <a:p>
            <a:pPr lvl="0"/>
            <a:r>
              <a:rPr lang="en-IN" b="1" dirty="0"/>
              <a:t>Success Criterion:</a:t>
            </a:r>
            <a:endParaRPr lang="en-IN" dirty="0"/>
          </a:p>
          <a:p>
            <a:pPr lvl="1"/>
            <a:r>
              <a:rPr lang="en-IN" dirty="0"/>
              <a:t>The dashboard successfully logs the initial CACHE MISS (Saved) and subsequent CACHE HIT (0ms upstream), updates hit/miss counters, computes bandwidth saved, and displays active entries in the LRU cache table.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F31393-1A58-4193-B896-64977C05E623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800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D7D29C7-8B44-2AF1-759B-16FD1D845A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185" y="4472106"/>
            <a:ext cx="5319629" cy="1914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85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465B80-86A3-4988-8BBF-D6C889F03087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 dirty="0">
                <a:solidFill>
                  <a:srgbClr val="20375C"/>
                </a:solidFill>
                <a:latin typeface="Arial"/>
                <a:ea typeface="Arial"/>
                <a:cs typeface="Arial"/>
              </a:rPr>
              <a:t>Conclusion and Contributions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5C3C1D-1A36-4479-B48D-72AED4C5126A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033241-AA33-4209-9B79-B06A3DA63F8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30 seconds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4D24D5-8342-497C-8F27-E269BD6DACDB}"/>
              </a:ext>
            </a:extLst>
          </p:cNvPr>
          <p:cNvSpPr>
            <a:spLocks noGrp="1"/>
          </p:cNvSpPr>
          <p:nvPr/>
        </p:nvSpPr>
        <p:spPr>
          <a:xfrm>
            <a:off x="523875" y="1381125"/>
            <a:ext cx="8096250" cy="2000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lang="en-IN" b="1" dirty="0"/>
              <a:t>Outcome:</a:t>
            </a:r>
            <a:r>
              <a:rPr lang="en-IN" dirty="0"/>
              <a:t> Successfully implemented a multi-threaded Python TCP HTTP proxy with an MD5-keyed LRU cache and </a:t>
            </a:r>
            <a:r>
              <a:rPr lang="en-IN" dirty="0" err="1"/>
              <a:t>Streamlit</a:t>
            </a:r>
            <a:r>
              <a:rPr lang="en-IN" dirty="0"/>
              <a:t> monitoring interface. </a:t>
            </a:r>
          </a:p>
          <a:p>
            <a:pPr lvl="0"/>
            <a:r>
              <a:rPr lang="en-IN" b="1" dirty="0"/>
              <a:t>Application:</a:t>
            </a:r>
            <a:r>
              <a:rPr lang="en-IN" dirty="0"/>
              <a:t> Demonstrates core gateway and caching concepts used in web content delivery networks (CDNs). </a:t>
            </a:r>
          </a:p>
          <a:p>
            <a:pPr lvl="0"/>
            <a:r>
              <a:rPr lang="en-IN" b="1" dirty="0"/>
              <a:t>Limitation:</a:t>
            </a:r>
            <a:r>
              <a:rPr lang="en-IN" dirty="0"/>
              <a:t> Supports plain HTTP GET requests only; cache is volatile (in-memory) and lost when the process terminates. </a:t>
            </a:r>
          </a:p>
          <a:p>
            <a:pPr lvl="0"/>
            <a:r>
              <a:rPr lang="en-IN" b="1" dirty="0"/>
              <a:t>Future Scope:</a:t>
            </a:r>
            <a:r>
              <a:rPr lang="en-IN" dirty="0"/>
              <a:t> Integrating HTTPS CONNECT tunnelling, RFC-compliant Cache-Control headers, and persistent database storage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899F11-8A11-408E-A37B-1864BB168263}"/>
              </a:ext>
            </a:extLst>
          </p:cNvPr>
          <p:cNvSpPr>
            <a:spLocks noGrp="1"/>
          </p:cNvSpPr>
          <p:nvPr/>
        </p:nvSpPr>
        <p:spPr>
          <a:xfrm>
            <a:off x="523874" y="3810000"/>
            <a:ext cx="8193405" cy="14173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6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r>
              <a:rPr lang="en-IN" b="1" dirty="0"/>
              <a:t>Team Contributions:</a:t>
            </a:r>
            <a:endParaRPr lang="en-IN" dirty="0"/>
          </a:p>
          <a:p>
            <a:pPr lvl="0"/>
            <a:r>
              <a:rPr lang="en-IN" dirty="0"/>
              <a:t>Archita Agarwal: [Core Proxy Logic &amp; Sockets] </a:t>
            </a:r>
          </a:p>
          <a:p>
            <a:pPr lvl="0"/>
            <a:r>
              <a:rPr lang="en-IN" dirty="0"/>
              <a:t>Sumedh </a:t>
            </a:r>
            <a:r>
              <a:rPr lang="en-IN" dirty="0" err="1"/>
              <a:t>Nilawar</a:t>
            </a:r>
            <a:r>
              <a:rPr lang="en-IN" dirty="0"/>
              <a:t>: [Threading &amp; Request Parsing] </a:t>
            </a:r>
          </a:p>
          <a:p>
            <a:pPr lvl="0"/>
            <a:r>
              <a:rPr lang="en-IN" dirty="0"/>
              <a:t>Swarali Lokare: [LRU Cache &amp; MD5 Key Generation] </a:t>
            </a:r>
          </a:p>
          <a:p>
            <a:pPr lvl="0"/>
            <a:r>
              <a:rPr lang="en-IN" dirty="0"/>
              <a:t>Soumya Kumari: [</a:t>
            </a:r>
            <a:r>
              <a:rPr lang="en-IN" dirty="0" err="1"/>
              <a:t>Streamlit</a:t>
            </a:r>
            <a:r>
              <a:rPr lang="en-IN" dirty="0"/>
              <a:t> Dashboard &amp; Testing]</a:t>
            </a:r>
          </a:p>
        </p:txBody>
      </p:sp>
    </p:spTree>
    <p:extLst>
      <p:ext uri="{BB962C8B-B14F-4D97-AF65-F5344CB8AC3E}">
        <p14:creationId xmlns:p14="http://schemas.microsoft.com/office/powerpoint/2010/main" val="2125721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87E46F-E649-4EC2-BE15-E3DC1B512D09}"/>
              </a:ext>
            </a:extLst>
          </p:cNvPr>
          <p:cNvSpPr>
            <a:spLocks noGrp="1"/>
          </p:cNvSpPr>
          <p:nvPr/>
        </p:nvSpPr>
        <p:spPr>
          <a:xfrm>
            <a:off x="523875" y="400050"/>
            <a:ext cx="8096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550" b="1">
                <a:solidFill>
                  <a:srgbClr val="20375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0375C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8BC680-DAE1-4C4A-B29D-BFCE9D74EB15}"/>
              </a:ext>
            </a:extLst>
          </p:cNvPr>
          <p:cNvSpPr>
            <a:spLocks noGrp="1"/>
          </p:cNvSpPr>
          <p:nvPr/>
        </p:nvSpPr>
        <p:spPr>
          <a:xfrm>
            <a:off x="523875" y="6315075"/>
            <a:ext cx="5905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Computer Networks Laboratory   CSE20110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937739-9035-4330-B6E1-0CD991043B34}"/>
              </a:ext>
            </a:extLst>
          </p:cNvPr>
          <p:cNvSpPr>
            <a:spLocks noGrp="1"/>
          </p:cNvSpPr>
          <p:nvPr/>
        </p:nvSpPr>
        <p:spPr>
          <a:xfrm>
            <a:off x="6667500" y="6315075"/>
            <a:ext cx="1905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Backup slide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EAB2A-6F3A-412A-8E97-83E166768C45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8096250" cy="3048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8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 lvl="0"/>
            <a:r>
              <a:rPr sz="1800" b="0" dirty="0">
                <a:solidFill>
                  <a:srgbClr val="202020"/>
                </a:solidFill>
                <a:latin typeface="Arial"/>
                <a:ea typeface="Arial"/>
                <a:cs typeface="Arial"/>
              </a:rPr>
              <a:t>[1] </a:t>
            </a:r>
            <a:r>
              <a:rPr lang="en-IN" dirty="0"/>
              <a:t>Python Software Foundation, “socket — Low-level networking interface,” Python documentation. </a:t>
            </a:r>
          </a:p>
          <a:p>
            <a:pPr lvl="0"/>
            <a:r>
              <a:rPr lang="en-IN" dirty="0"/>
              <a:t>[2] Python Software Foundation, “threading — Thread-based parallelism,” Python documentation. </a:t>
            </a:r>
          </a:p>
          <a:p>
            <a:pPr lvl="0"/>
            <a:r>
              <a:rPr lang="en-IN" dirty="0"/>
              <a:t>[3] R. Fielding, M. Nottingham, and J. Reschke, “HTTP Semantics,” RFC 9110, IETF, Jun. 2022.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570D7-9BBD-423B-A711-D477799851EE}"/>
              </a:ext>
            </a:extLst>
          </p:cNvPr>
          <p:cNvSpPr>
            <a:spLocks noGrp="1"/>
          </p:cNvSpPr>
          <p:nvPr/>
        </p:nvSpPr>
        <p:spPr>
          <a:xfrm>
            <a:off x="523875" y="5143500"/>
            <a:ext cx="809625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endParaRPr sz="1575" b="0" dirty="0">
              <a:solidFill>
                <a:srgbClr val="20202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9954670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1343</Words>
  <Application>Microsoft Office PowerPoint</Application>
  <DocSecurity>0</DocSecurity>
  <PresentationFormat>On-screen Show (4:3)</PresentationFormat>
  <Paragraphs>98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Google Sans Text</vt:lpstr>
      <vt:lpstr>ChatGPT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Sumedh Nilawar</cp:lastModifiedBy>
  <cp:revision>3</cp:revision>
  <dcterms:created xsi:type="dcterms:W3CDTF">2026-10-14T10:56:48Z</dcterms:created>
  <dcterms:modified xsi:type="dcterms:W3CDTF">2026-10-22T14:31:45Z</dcterms:modified>
</cp:coreProperties>
</file>